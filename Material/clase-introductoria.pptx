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66" r:id="rId4"/>
    <p:sldId id="258" r:id="rId5"/>
    <p:sldId id="267" r:id="rId6"/>
    <p:sldId id="270" r:id="rId7"/>
    <p:sldId id="268" r:id="rId8"/>
    <p:sldId id="271" r:id="rId9"/>
    <p:sldId id="257" r:id="rId10"/>
    <p:sldId id="261" r:id="rId11"/>
    <p:sldId id="262" r:id="rId12"/>
    <p:sldId id="263" r:id="rId13"/>
    <p:sldId id="264" r:id="rId14"/>
    <p:sldId id="259" r:id="rId15"/>
    <p:sldId id="265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79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92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Dar la bienvenida cordial a todos los estudiantes.</a:t>
            </a:r>
          </a:p>
          <a:p>
            <a:r>
              <a:t>Explicar que esta sesión es la antesala de la materia para nivelar conocimientos, entender el terreno en el que estamos parados y descubrir por qué defender racionalmente la 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Explicar el salto de calidad que damos al dejar de usar PDFs sueltos en WhatsApp.</a:t>
            </a:r>
          </a:p>
          <a:p>
            <a:r>
              <a:t>- La app centraliza y simplifica todo.</a:t>
            </a:r>
          </a:p>
          <a:p>
            <a:r>
              <a:t>- Resaltar la importancia de avisar a tiempo si alguien necesita el material impreso.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64710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Explicar el salto de calidad que damos al dejar de usar PDFs sueltos en WhatsApp.</a:t>
            </a:r>
          </a:p>
          <a:p>
            <a:r>
              <a:t>- La app centraliza y simplifica todo.</a:t>
            </a:r>
          </a:p>
          <a:p>
            <a:r>
              <a:t>- Resaltar la importancia de avisar a tiempo si alguien necesita el material impreso.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Explicar que las actividades ayudan a fijar el conocimiento.</a:t>
            </a:r>
          </a:p>
          <a:p>
            <a:r>
              <a:t>- Tranquilizar a los alumnos: el formato es amigable (V/F, opción múltiple).</a:t>
            </a:r>
          </a:p>
          <a:p>
            <a:r>
              <a:t>- No hay que enviar fotos de las tareas; todo queda registrado en su perfil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Mostrar cómo se forma el usuario. Hacer un ejercicio rápido con algunos alumnos.</a:t>
            </a:r>
          </a:p>
          <a:p>
            <a:r>
              <a:t>- Ejemplos rápidos: Juan Perez -&gt; juanp; María Gómez -&gt; mariag.</a:t>
            </a:r>
          </a:p>
          <a:p>
            <a:r>
              <a:t>- El PIN universal para esta primera etapa es 1111 para evitar complicaciones.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Mostrar cómo se forma el usuario. Hacer un ejercicio rápido con algunos alumnos.</a:t>
            </a:r>
          </a:p>
          <a:p>
            <a:r>
              <a:t>- Ejemplos rápidos: Juan Perez -&gt; juanp; María Gómez -&gt; mariag.</a:t>
            </a:r>
          </a:p>
          <a:p>
            <a:r>
              <a:t>- El PIN universal para esta primera etapa es 1111 para evitar complicaciones.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3996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del orador:</a:t>
            </a:r>
          </a:p>
          <a:p>
            <a:r>
              <a:t>- Reiterar el día y hora: Lunes 20:00 hs de manera online.</a:t>
            </a:r>
          </a:p>
          <a:p>
            <a:r>
              <a:t>- La inversión mensual es sumamente accesible (30.000 Gs) y cubre toda la infraestructura tecnológica.</a:t>
            </a:r>
          </a:p>
          <a:p>
            <a:r>
              <a:t>- Dejar la tarea para esta semana: que todos ingresen a la app por primera vez y verifiquen su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Dar la bienvenida cordial a todos los estudiantes.</a:t>
            </a:r>
          </a:p>
          <a:p>
            <a:r>
              <a:t>Explicar que esta sesión es la antesala de la materia para nivelar conocimientos, entender el terreno en el que estamos parados y descubrir por qué defender racionalmente la 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9547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el concepto de 'esquizofrenia cultural'.</a:t>
            </a:r>
          </a:p>
          <a:p>
            <a:r>
              <a:t>Hacer reflexionar al alumno: ¿Por qué somos tan lógicos y exigentes con las verdades de la ciencia, pero tan descuidados y relativistas con las verdades del alma? La apologética entra para sanar esta división artificial.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el concepto de 'esquizofrenia cultural'.</a:t>
            </a:r>
          </a:p>
          <a:p>
            <a:r>
              <a:t>Hacer reflexionar al alumno: ¿Por qué somos tan lógicos y exigentes con las verdades de la ciencia, pero tan descuidados y relativistas con las verdades del alma? La apologética entra para sanar esta división artificial.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05519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 el origen de la palabra 'apologia' (defensa legal/razonada).</a:t>
            </a:r>
          </a:p>
          <a:p>
            <a:r>
              <a:t>Desmentir el mito de que somos cristianos que pedimos perdón por creer.</a:t>
            </a:r>
          </a:p>
          <a:p>
            <a:r>
              <a:t>Enfatizar que la apologética debe ejercerse siempre con 'mansedumbre y reverencia' como dice 1 Pedro 3:15.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2361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 el origen de la palabra 'apologia' (defensa legal/razonada).</a:t>
            </a:r>
          </a:p>
          <a:p>
            <a:r>
              <a:t>Desmentir el mito de que somos cristianos que pedimos perdón por creer.</a:t>
            </a:r>
          </a:p>
          <a:p>
            <a:r>
              <a:t>Enfatizar que la apologética debe ejercerse siempre con 'mansedumbre y reverencia' como dice 1 Pedro 3:15.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24295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Reiterar que en pleno siglo XXI, una fe puramente emotiva no resiste los embates de una cultura escéptica.</a:t>
            </a:r>
          </a:p>
          <a:p>
            <a:r>
              <a:t>Comentar brevemente que aprenderán la 'Técnica del Correcaminos', la cual se verá detalladamente en los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8372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Reiterar que en pleno siglo XXI, una fe puramente emotiva no resiste los embates de una cultura escéptica.</a:t>
            </a:r>
          </a:p>
          <a:p>
            <a:r>
              <a:t>Comentar brevemente que aprenderán la 'Técnica del Correcaminos', la cual se verá detalladamente en los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Reiterar que en pleno siglo XXI, una fe puramente emotiva no resiste los embates de una cultura escéptica.</a:t>
            </a:r>
          </a:p>
          <a:p>
            <a:r>
              <a:t>Comentar brevemente que aprenderán la 'Técnica del Correcaminos', la cual se verá detalladamente en los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5016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Hacer el cierre de la clase motivando a los estudiantes.</a:t>
            </a:r>
          </a:p>
          <a:p>
            <a:r>
              <a:t>Dejar claro que el objetivo es la salvación de almas y el fortalecimiento de la Iglesia, no ganar discusiones teológicas en redes sociales. El amor de Dios siempre debe acompañar a la verdad.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2421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BF1E2E"/>
                </a:solidFill>
                <a:latin typeface="Arial"/>
              </a:defRPr>
            </a:pPr>
            <a:r>
              <a:rPr dirty="0"/>
              <a:t>¡BIENVENIDOS!</a:t>
            </a:r>
          </a:p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Introductoria</a:t>
            </a:r>
            <a:r>
              <a:rPr dirty="0"/>
              <a:t> de</a:t>
            </a:r>
            <a:br>
              <a:rPr dirty="0"/>
            </a:br>
            <a:r>
              <a:rPr dirty="0" err="1"/>
              <a:t>Apologética</a:t>
            </a:r>
            <a:r>
              <a:rPr dirty="0"/>
              <a:t> Cristiana</a:t>
            </a:r>
          </a:p>
          <a:p>
            <a:pPr>
              <a:defRPr sz="1600">
                <a:solidFill>
                  <a:srgbClr val="B4C8D7"/>
                </a:solidFill>
                <a:latin typeface="Arial"/>
              </a:defRPr>
            </a:pPr>
            <a:r>
              <a:rPr lang="es-PY" sz="3200" dirty="0"/>
              <a:t>App y Metodología</a:t>
            </a: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ESCUELA DE VIDA  |  IGLESIA CELEBRACIÓN CRISTIANA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Nuestra Plataforma de Estudio: La App Oficial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rPr sz="3600" dirty="0"/>
              <a:t>Toda la </a:t>
            </a:r>
            <a:r>
              <a:rPr sz="3600" dirty="0" err="1"/>
              <a:t>materia</a:t>
            </a:r>
            <a:r>
              <a:rPr sz="3600" dirty="0"/>
              <a:t> </a:t>
            </a:r>
            <a:r>
              <a:rPr sz="3600" dirty="0" err="1"/>
              <a:t>en</a:t>
            </a:r>
            <a:r>
              <a:rPr sz="3600" dirty="0"/>
              <a:t> un solo </a:t>
            </a:r>
            <a:r>
              <a:rPr sz="3600" dirty="0" err="1"/>
              <a:t>lugar</a:t>
            </a:r>
            <a:endParaRPr sz="3600" dirty="0"/>
          </a:p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  <a:latin typeface="Arial"/>
              </a:defRPr>
            </a:pPr>
            <a:r>
              <a:rPr sz="2000" dirty="0" err="1"/>
              <a:t>Olvídate</a:t>
            </a:r>
            <a:r>
              <a:rPr sz="2000" dirty="0"/>
              <a:t> de los </a:t>
            </a:r>
            <a:r>
              <a:rPr sz="2000" dirty="0" err="1"/>
              <a:t>archivos</a:t>
            </a:r>
            <a:r>
              <a:rPr sz="2000" dirty="0"/>
              <a:t> </a:t>
            </a:r>
            <a:r>
              <a:rPr sz="2000" dirty="0" err="1"/>
              <a:t>sueltos</a:t>
            </a:r>
            <a:r>
              <a:rPr sz="2000" dirty="0"/>
              <a:t> </a:t>
            </a:r>
            <a:r>
              <a:rPr sz="2000" dirty="0" err="1"/>
              <a:t>enviados</a:t>
            </a:r>
            <a:r>
              <a:rPr sz="2000" dirty="0"/>
              <a:t> por chat que se </a:t>
            </a:r>
            <a:r>
              <a:rPr sz="2000" dirty="0" err="1"/>
              <a:t>pierden</a:t>
            </a:r>
            <a:r>
              <a:rPr sz="2000" dirty="0"/>
              <a:t> con </a:t>
            </a:r>
            <a:r>
              <a:rPr sz="2000" dirty="0" err="1"/>
              <a:t>facilidad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rPr sz="2000" b="1" dirty="0"/>
              <a:t>• </a:t>
            </a:r>
            <a:r>
              <a:rPr sz="2000" b="1" dirty="0" err="1"/>
              <a:t>Acceso</a:t>
            </a:r>
            <a:r>
              <a:rPr sz="2000" b="1" dirty="0"/>
              <a:t> </a:t>
            </a:r>
            <a:r>
              <a:rPr sz="2000" b="1" dirty="0" err="1"/>
              <a:t>Centralizado</a:t>
            </a:r>
            <a:r>
              <a:rPr sz="2000" b="1" dirty="0"/>
              <a:t>: Dentro de la app </a:t>
            </a:r>
            <a:r>
              <a:rPr sz="2000" b="1" dirty="0" err="1"/>
              <a:t>tendrás</a:t>
            </a:r>
            <a:r>
              <a:rPr sz="2000" b="1" dirty="0"/>
              <a:t> </a:t>
            </a:r>
            <a:r>
              <a:rPr sz="2000" b="1" dirty="0" err="1"/>
              <a:t>todos</a:t>
            </a:r>
            <a:r>
              <a:rPr sz="2000" b="1" dirty="0"/>
              <a:t> los </a:t>
            </a:r>
            <a:r>
              <a:rPr sz="2000" b="1" dirty="0" err="1"/>
              <a:t>módulos</a:t>
            </a:r>
            <a:r>
              <a:rPr sz="2000" b="1" dirty="0"/>
              <a:t> y las </a:t>
            </a:r>
            <a:r>
              <a:rPr sz="2000" b="1" dirty="0" err="1"/>
              <a:t>lecciones</a:t>
            </a:r>
            <a:r>
              <a:rPr sz="2000" b="1" dirty="0"/>
              <a:t> </a:t>
            </a:r>
            <a:r>
              <a:rPr sz="2000" b="1" dirty="0" err="1"/>
              <a:t>semanales</a:t>
            </a:r>
            <a:r>
              <a:rPr sz="2000" b="1" dirty="0"/>
              <a:t> de forma </a:t>
            </a:r>
            <a:r>
              <a:rPr sz="2000" b="1" dirty="0" err="1"/>
              <a:t>ordenadora</a:t>
            </a:r>
            <a:r>
              <a:rPr sz="2000" b="1" dirty="0"/>
              <a:t>.</a:t>
            </a:r>
            <a:br>
              <a:rPr lang="es-PY" sz="2000" b="1" dirty="0"/>
            </a:br>
            <a:br>
              <a:rPr sz="2000" b="1" dirty="0"/>
            </a:br>
            <a:r>
              <a:rPr sz="2000" b="1" dirty="0"/>
              <a:t>• </a:t>
            </a:r>
            <a:r>
              <a:rPr sz="2000" b="1" dirty="0" err="1"/>
              <a:t>Comodidad</a:t>
            </a:r>
            <a:r>
              <a:rPr sz="2000" b="1" dirty="0"/>
              <a:t> Total: Lee </a:t>
            </a:r>
            <a:r>
              <a:rPr sz="2000" b="1" dirty="0" err="1"/>
              <a:t>cómodamente</a:t>
            </a:r>
            <a:r>
              <a:rPr sz="2000" b="1" dirty="0"/>
              <a:t> </a:t>
            </a:r>
            <a:r>
              <a:rPr sz="2000" b="1" dirty="0" err="1"/>
              <a:t>en</a:t>
            </a:r>
            <a:r>
              <a:rPr sz="2000" b="1" dirty="0"/>
              <a:t> </a:t>
            </a:r>
            <a:r>
              <a:rPr sz="2000" b="1" dirty="0" err="1"/>
              <a:t>cualquier</a:t>
            </a:r>
            <a:r>
              <a:rPr sz="2000" b="1" dirty="0"/>
              <a:t> </a:t>
            </a:r>
            <a:r>
              <a:rPr sz="2000" b="1" dirty="0" err="1"/>
              <a:t>momento</a:t>
            </a:r>
            <a:r>
              <a:rPr sz="2000" b="1" dirty="0"/>
              <a:t> </a:t>
            </a:r>
            <a:r>
              <a:rPr sz="2000" b="1" dirty="0" err="1"/>
              <a:t>desde</a:t>
            </a:r>
            <a:r>
              <a:rPr sz="2000" b="1" dirty="0"/>
              <a:t> </a:t>
            </a:r>
            <a:r>
              <a:rPr sz="2000" b="1" dirty="0" err="1"/>
              <a:t>tu</a:t>
            </a:r>
            <a:r>
              <a:rPr sz="2000" b="1" dirty="0"/>
              <a:t> </a:t>
            </a:r>
            <a:r>
              <a:rPr sz="2000" b="1" dirty="0" err="1"/>
              <a:t>teléfono</a:t>
            </a:r>
            <a:r>
              <a:rPr sz="2000" b="1" dirty="0"/>
              <a:t> </a:t>
            </a:r>
            <a:r>
              <a:rPr sz="2000" b="1" dirty="0" err="1"/>
              <a:t>móvil</a:t>
            </a:r>
            <a:r>
              <a:rPr sz="2000" b="1" dirty="0"/>
              <a:t> Android o </a:t>
            </a:r>
            <a:r>
              <a:rPr sz="2000" b="1" dirty="0" err="1"/>
              <a:t>tu</a:t>
            </a:r>
            <a:r>
              <a:rPr sz="2000" b="1" dirty="0"/>
              <a:t> </a:t>
            </a:r>
            <a:r>
              <a:rPr sz="2000" b="1" dirty="0" err="1"/>
              <a:t>computadora</a:t>
            </a:r>
            <a:r>
              <a:rPr sz="2000" b="1" dirty="0"/>
              <a:t>.</a:t>
            </a:r>
            <a:br>
              <a:rPr lang="es-PY" sz="2000" b="1" dirty="0"/>
            </a:br>
            <a:br>
              <a:rPr sz="2000" b="1" dirty="0"/>
            </a:br>
            <a:r>
              <a:rPr sz="2000" b="1" dirty="0"/>
              <a:t>• </a:t>
            </a:r>
            <a:r>
              <a:rPr sz="2000" b="1" dirty="0" err="1"/>
              <a:t>Progreso</a:t>
            </a:r>
            <a:r>
              <a:rPr sz="2000" b="1" dirty="0"/>
              <a:t> </a:t>
            </a:r>
            <a:r>
              <a:rPr sz="2000" b="1" dirty="0" err="1"/>
              <a:t>Guardado</a:t>
            </a:r>
            <a:r>
              <a:rPr sz="2000" b="1" dirty="0"/>
              <a:t>: El </a:t>
            </a:r>
            <a:r>
              <a:rPr sz="2000" b="1" dirty="0" err="1"/>
              <a:t>sistema</a:t>
            </a:r>
            <a:r>
              <a:rPr sz="2000" b="1" dirty="0"/>
              <a:t> </a:t>
            </a:r>
            <a:r>
              <a:rPr sz="2000" b="1" dirty="0" err="1"/>
              <a:t>recordará</a:t>
            </a:r>
            <a:r>
              <a:rPr sz="2000" b="1" dirty="0"/>
              <a:t> </a:t>
            </a:r>
            <a:r>
              <a:rPr sz="2000" b="1" dirty="0" err="1"/>
              <a:t>en</a:t>
            </a:r>
            <a:r>
              <a:rPr sz="2000" b="1" dirty="0"/>
              <a:t> </a:t>
            </a:r>
            <a:r>
              <a:rPr sz="2000" b="1" dirty="0" err="1"/>
              <a:t>qué</a:t>
            </a:r>
            <a:r>
              <a:rPr sz="2000" b="1" dirty="0"/>
              <a:t> </a:t>
            </a:r>
            <a:r>
              <a:rPr sz="2000" b="1" dirty="0" err="1"/>
              <a:t>parte</a:t>
            </a:r>
            <a:r>
              <a:rPr sz="2000" b="1" dirty="0"/>
              <a:t> </a:t>
            </a:r>
            <a:r>
              <a:rPr sz="2000" b="1" dirty="0" err="1"/>
              <a:t>te</a:t>
            </a:r>
            <a:r>
              <a:rPr sz="2000" b="1" dirty="0"/>
              <a:t> </a:t>
            </a:r>
            <a:r>
              <a:rPr sz="2000" b="1" dirty="0" err="1"/>
              <a:t>quedaste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938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Nuestra Plataforma de Estudio: La App Oficial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rPr sz="3600" dirty="0"/>
              <a:t>¿</a:t>
            </a:r>
            <a:r>
              <a:rPr sz="3600" dirty="0" err="1"/>
              <a:t>Prefieres</a:t>
            </a:r>
            <a:r>
              <a:rPr sz="3600" dirty="0"/>
              <a:t> leer </a:t>
            </a:r>
            <a:r>
              <a:rPr sz="3600" dirty="0" err="1"/>
              <a:t>en</a:t>
            </a:r>
            <a:r>
              <a:rPr sz="3600" dirty="0"/>
              <a:t> </a:t>
            </a:r>
            <a:r>
              <a:rPr sz="3600" dirty="0" err="1"/>
              <a:t>papel</a:t>
            </a:r>
            <a:r>
              <a:rPr sz="3600" dirty="0"/>
              <a:t>?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rPr sz="2000" b="1" dirty="0"/>
              <a:t>• </a:t>
            </a:r>
            <a:r>
              <a:rPr sz="2000" b="1" dirty="0" err="1"/>
              <a:t>Impresión</a:t>
            </a:r>
            <a:r>
              <a:rPr sz="2000" b="1" dirty="0"/>
              <a:t> bajo </a:t>
            </a:r>
            <a:r>
              <a:rPr sz="2000" b="1" dirty="0" err="1"/>
              <a:t>demanda</a:t>
            </a:r>
            <a:r>
              <a:rPr sz="2000" b="1" dirty="0"/>
              <a:t>: Por </a:t>
            </a:r>
            <a:r>
              <a:rPr sz="2000" b="1" dirty="0" err="1"/>
              <a:t>motivos</a:t>
            </a:r>
            <a:r>
              <a:rPr sz="2000" b="1" dirty="0"/>
              <a:t> de </a:t>
            </a:r>
            <a:r>
              <a:rPr sz="2000" b="1" dirty="0" err="1"/>
              <a:t>organización</a:t>
            </a:r>
            <a:r>
              <a:rPr sz="2000" b="1" dirty="0"/>
              <a:t> y </a:t>
            </a:r>
            <a:r>
              <a:rPr sz="2000" b="1" dirty="0" err="1"/>
              <a:t>logística</a:t>
            </a:r>
            <a:r>
              <a:rPr sz="2000" b="1" dirty="0"/>
              <a:t>, las </a:t>
            </a:r>
            <a:r>
              <a:rPr sz="2000" b="1" dirty="0" err="1"/>
              <a:t>copias</a:t>
            </a:r>
            <a:r>
              <a:rPr sz="2000" b="1" dirty="0"/>
              <a:t> impresas solo se </a:t>
            </a:r>
            <a:r>
              <a:rPr sz="2000" b="1" dirty="0" err="1"/>
              <a:t>entregarán</a:t>
            </a:r>
            <a:r>
              <a:rPr sz="2000" b="1" dirty="0"/>
              <a:t> a </a:t>
            </a:r>
            <a:r>
              <a:rPr sz="2000" b="1" dirty="0" err="1"/>
              <a:t>quienes</a:t>
            </a:r>
            <a:r>
              <a:rPr sz="2000" b="1" dirty="0"/>
              <a:t> lo </a:t>
            </a:r>
            <a:r>
              <a:rPr sz="2000" b="1" dirty="0" err="1"/>
              <a:t>soliciten</a:t>
            </a:r>
            <a:r>
              <a:rPr sz="2000" b="1" dirty="0"/>
              <a:t> </a:t>
            </a:r>
            <a:r>
              <a:rPr sz="2000" b="1" dirty="0" err="1"/>
              <a:t>expresamente</a:t>
            </a:r>
            <a:r>
              <a:rPr sz="2000" b="1" dirty="0"/>
              <a:t>.</a:t>
            </a:r>
            <a:br>
              <a:rPr sz="2000" b="1" dirty="0"/>
            </a:br>
            <a:br>
              <a:rPr sz="2000" b="1" dirty="0"/>
            </a:br>
            <a:r>
              <a:rPr sz="2000" b="1" dirty="0"/>
              <a:t>• </a:t>
            </a:r>
            <a:r>
              <a:rPr sz="2000" b="1" dirty="0" err="1"/>
              <a:t>Requisito</a:t>
            </a:r>
            <a:r>
              <a:rPr sz="2000" b="1" dirty="0"/>
              <a:t>: Si </a:t>
            </a:r>
            <a:r>
              <a:rPr sz="2000" b="1" dirty="0" err="1"/>
              <a:t>eres</a:t>
            </a:r>
            <a:r>
              <a:rPr sz="2000" b="1" dirty="0"/>
              <a:t> de las personas que </a:t>
            </a:r>
            <a:r>
              <a:rPr sz="2000" b="1" dirty="0" err="1"/>
              <a:t>comprende</a:t>
            </a:r>
            <a:r>
              <a:rPr sz="2000" b="1" dirty="0"/>
              <a:t> </a:t>
            </a:r>
            <a:r>
              <a:rPr sz="2000" b="1" dirty="0" err="1"/>
              <a:t>mejor</a:t>
            </a:r>
            <a:r>
              <a:rPr sz="2000" b="1" dirty="0"/>
              <a:t> </a:t>
            </a:r>
            <a:r>
              <a:rPr sz="2000" b="1" dirty="0" err="1"/>
              <a:t>leyendo</a:t>
            </a:r>
            <a:r>
              <a:rPr sz="2000" b="1" dirty="0"/>
              <a:t> </a:t>
            </a:r>
            <a:r>
              <a:rPr sz="2000" b="1" dirty="0" err="1"/>
              <a:t>en</a:t>
            </a:r>
            <a:r>
              <a:rPr sz="2000" b="1" dirty="0"/>
              <a:t> </a:t>
            </a:r>
            <a:r>
              <a:rPr sz="2000" b="1" dirty="0" err="1"/>
              <a:t>formato</a:t>
            </a:r>
            <a:r>
              <a:rPr sz="2000" b="1" dirty="0"/>
              <a:t> </a:t>
            </a:r>
            <a:r>
              <a:rPr sz="2000" b="1" dirty="0" err="1"/>
              <a:t>físico</a:t>
            </a:r>
            <a:r>
              <a:rPr sz="2000" b="1" dirty="0"/>
              <a:t>, </a:t>
            </a:r>
            <a:r>
              <a:rPr sz="2000" b="1" dirty="0" err="1"/>
              <a:t>avísanos</a:t>
            </a:r>
            <a:r>
              <a:rPr sz="2000" b="1" dirty="0"/>
              <a:t> con </a:t>
            </a:r>
            <a:r>
              <a:rPr sz="2000" b="1" dirty="0" err="1"/>
              <a:t>anticipación</a:t>
            </a:r>
            <a:r>
              <a:rPr sz="2000" b="1" dirty="0"/>
              <a:t> para </a:t>
            </a:r>
            <a:r>
              <a:rPr sz="2000" b="1" dirty="0" err="1"/>
              <a:t>preparar</a:t>
            </a:r>
            <a:r>
              <a:rPr sz="2000" b="1" dirty="0"/>
              <a:t> </a:t>
            </a:r>
            <a:r>
              <a:rPr sz="2000" b="1" dirty="0" err="1"/>
              <a:t>tus</a:t>
            </a:r>
            <a:r>
              <a:rPr sz="2000" b="1" dirty="0"/>
              <a:t> </a:t>
            </a:r>
            <a:r>
              <a:rPr sz="2000" b="1" dirty="0" err="1"/>
              <a:t>materiales</a:t>
            </a:r>
            <a:r>
              <a:rPr sz="2000" b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Evaluaciones y Actividades Integradas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07040" cy="1138335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r>
              <a:rPr sz="3200" dirty="0" err="1"/>
              <a:t>Actividades</a:t>
            </a:r>
            <a:r>
              <a:rPr sz="3200" dirty="0"/>
              <a:t> </a:t>
            </a:r>
            <a:r>
              <a:rPr sz="3200" dirty="0" err="1"/>
              <a:t>Interactivas</a:t>
            </a:r>
            <a:endParaRPr sz="3200" dirty="0"/>
          </a:p>
          <a:p>
            <a:pPr algn="ctr">
              <a:spcAft>
                <a:spcPts val="1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rPr sz="2000" dirty="0"/>
              <a:t>PONER A PRUEBA LO QUE LEEMOS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3710"/>
            <a:ext cx="10607040" cy="923732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endParaRPr lang="es-PY" sz="2000" dirty="0"/>
          </a:p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r>
              <a:rPr sz="3200" dirty="0" err="1"/>
              <a:t>Formatos</a:t>
            </a:r>
            <a:r>
              <a:rPr sz="3200" dirty="0"/>
              <a:t> </a:t>
            </a:r>
            <a:r>
              <a:rPr sz="3200" dirty="0" err="1"/>
              <a:t>Amigables</a:t>
            </a:r>
            <a:endParaRPr sz="3200" dirty="0"/>
          </a:p>
          <a:p>
            <a:pPr algn="ctr">
              <a:spcAft>
                <a:spcPts val="1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rPr sz="2000" dirty="0"/>
              <a:t>DIFERENTES TIPOS DE PREGUNTAS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62668"/>
            <a:ext cx="10607040" cy="923732"/>
          </a:xfrm>
          <a:prstGeom prst="roundRect">
            <a:avLst/>
          </a:prstGeom>
          <a:solidFill>
            <a:srgbClr val="FFFFFF"/>
          </a:solidFill>
          <a:ln w="381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0B496B"/>
                </a:solidFill>
                <a:latin typeface="Georgia"/>
              </a:defRPr>
            </a:pPr>
            <a:r>
              <a:rPr sz="3200" dirty="0" err="1"/>
              <a:t>Progreso</a:t>
            </a:r>
            <a:r>
              <a:rPr sz="3200" dirty="0"/>
              <a:t> </a:t>
            </a:r>
            <a:r>
              <a:rPr sz="3200" dirty="0" err="1"/>
              <a:t>Automatizado</a:t>
            </a:r>
            <a:endParaRPr sz="3200" dirty="0"/>
          </a:p>
          <a:p>
            <a:pPr algn="ctr">
              <a:spcAft>
                <a:spcPts val="1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rPr sz="2000" dirty="0"/>
              <a:t>SIN HOJAS SUELTAS NI FOTOS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¿Cómo acceder a la plataforma?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6916" y="1600200"/>
            <a:ext cx="3178006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rPr dirty="0" err="1"/>
              <a:t>Ingreso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y </a:t>
            </a:r>
            <a:r>
              <a:rPr dirty="0" err="1"/>
              <a:t>Sencillo</a:t>
            </a:r>
            <a:endParaRPr lang="es-ES" dirty="0"/>
          </a:p>
        </p:txBody>
      </p:sp>
      <p:sp>
        <p:nvSpPr>
          <p:cNvPr id="6" name="Rounded Rectangle 5"/>
          <p:cNvSpPr/>
          <p:nvPr/>
        </p:nvSpPr>
        <p:spPr>
          <a:xfrm>
            <a:off x="3769567" y="1737360"/>
            <a:ext cx="7660433" cy="2011680"/>
          </a:xfrm>
          <a:prstGeom prst="roundRect">
            <a:avLst/>
          </a:prstGeom>
          <a:solidFill>
            <a:srgbClr val="0B496B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BF1E2E"/>
                </a:solidFill>
                <a:latin typeface="Arial"/>
              </a:defRPr>
            </a:pPr>
            <a:r>
              <a:rPr sz="2000" dirty="0">
                <a:solidFill>
                  <a:schemeClr val="bg1"/>
                </a:solidFill>
              </a:rPr>
              <a:t>USUARIO</a:t>
            </a:r>
          </a:p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rPr sz="2800" dirty="0"/>
              <a:t>Primer </a:t>
            </a:r>
            <a:r>
              <a:rPr sz="2800" dirty="0" err="1"/>
              <a:t>Nombre</a:t>
            </a:r>
            <a:r>
              <a:rPr sz="2800" dirty="0"/>
              <a:t> + </a:t>
            </a:r>
            <a:r>
              <a:rPr sz="2800" dirty="0" err="1"/>
              <a:t>Letra</a:t>
            </a:r>
            <a:r>
              <a:rPr sz="2800" dirty="0"/>
              <a:t> </a:t>
            </a:r>
            <a:r>
              <a:rPr sz="2800" dirty="0" err="1"/>
              <a:t>Apellido</a:t>
            </a:r>
            <a:endParaRPr sz="2800" dirty="0"/>
          </a:p>
          <a:p>
            <a:pPr>
              <a:defRPr sz="1400">
                <a:solidFill>
                  <a:srgbClr val="C8DCF0"/>
                </a:solidFill>
                <a:latin typeface="Arial"/>
              </a:defRPr>
            </a:pPr>
            <a:r>
              <a:rPr sz="2400" dirty="0" err="1"/>
              <a:t>Ejemplo</a:t>
            </a:r>
            <a:r>
              <a:rPr sz="2400" dirty="0"/>
              <a:t>: </a:t>
            </a:r>
            <a:r>
              <a:rPr sz="2400" dirty="0" err="1"/>
              <a:t>Karlos</a:t>
            </a:r>
            <a:r>
              <a:rPr sz="2400" dirty="0"/>
              <a:t> Bazan  ➔  </a:t>
            </a:r>
            <a:r>
              <a:rPr sz="2400" dirty="0" err="1"/>
              <a:t>karlosb</a:t>
            </a:r>
            <a:endParaRPr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3769567" y="4023360"/>
            <a:ext cx="7660433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1E2E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646E78"/>
                </a:solidFill>
                <a:latin typeface="Arial"/>
              </a:defRPr>
            </a:pPr>
            <a:r>
              <a:rPr sz="2000" dirty="0"/>
              <a:t>CONTRASEÑA (PIN) UNIVERSAL</a:t>
            </a:r>
          </a:p>
          <a:p>
            <a:pPr>
              <a:spcAft>
                <a:spcPts val="400"/>
              </a:spcAft>
              <a:defRPr sz="3600" b="1">
                <a:solidFill>
                  <a:srgbClr val="BF1E2E"/>
                </a:solidFill>
                <a:latin typeface="Georgia"/>
              </a:defRPr>
            </a:pPr>
            <a:r>
              <a:rPr dirty="0"/>
              <a:t>1111</a:t>
            </a:r>
          </a:p>
          <a:p>
            <a:pPr>
              <a:defRPr sz="1300">
                <a:solidFill>
                  <a:srgbClr val="282828"/>
                </a:solidFill>
                <a:latin typeface="Arial"/>
              </a:defRPr>
            </a:pPr>
            <a:r>
              <a:rPr sz="2000" dirty="0" err="1"/>
              <a:t>Usa</a:t>
            </a:r>
            <a:r>
              <a:rPr sz="2000" dirty="0"/>
              <a:t> </a:t>
            </a:r>
            <a:r>
              <a:rPr sz="2000" dirty="0" err="1"/>
              <a:t>este</a:t>
            </a:r>
            <a:r>
              <a:rPr sz="2000" dirty="0"/>
              <a:t> PIN universal para </a:t>
            </a:r>
            <a:r>
              <a:rPr sz="2000" dirty="0" err="1"/>
              <a:t>ingresar</a:t>
            </a:r>
            <a:r>
              <a:rPr sz="2000" dirty="0"/>
              <a:t> por </a:t>
            </a:r>
            <a:r>
              <a:rPr sz="2000" dirty="0" err="1"/>
              <a:t>primera</a:t>
            </a:r>
            <a:r>
              <a:rPr sz="2000" dirty="0"/>
              <a:t> </a:t>
            </a:r>
            <a:r>
              <a:rPr sz="2000" dirty="0" err="1"/>
              <a:t>vez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F1E2E"/>
                </a:solidFill>
                <a:latin typeface="Arial"/>
              </a:defRPr>
            </a:pPr>
            <a:r>
              <a:t>APOLOGÉTICA CRISTIANA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¿Cómo acceder a la plataforma?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54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6916" y="1600200"/>
            <a:ext cx="3178006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rPr dirty="0" err="1"/>
              <a:t>Ingreso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y </a:t>
            </a:r>
            <a:r>
              <a:rPr dirty="0" err="1"/>
              <a:t>Sencillo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29DD5F3-ABAC-477B-804B-89402F784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922" y="1463040"/>
            <a:ext cx="4582164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2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Horarios, Costo e Inicio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25A82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DCEBFA"/>
                </a:solidFill>
                <a:latin typeface="Arial"/>
              </a:defRPr>
            </a:pPr>
            <a:r>
              <a:t>CLASES EN VIVO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Lunes, 20:00 hs.</a:t>
            </a:r>
          </a:p>
          <a:p>
            <a:pPr>
              <a:defRPr sz="1500">
                <a:solidFill>
                  <a:srgbClr val="DCEBFA"/>
                </a:solidFill>
                <a:latin typeface="Arial"/>
              </a:defRPr>
            </a:pPr>
            <a:r>
              <a:t>• Formato 100% online.</a:t>
            </a:r>
            <a:br/>
            <a:r>
              <a:t>• Sesiones dinámicas diseñadas para no sobrecargar tu tiempo.</a:t>
            </a:r>
            <a:br/>
            <a:r>
              <a:t>• Espacio abierto para resolver dudas y consolidar lo leído en la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1E2E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646E78"/>
                </a:solidFill>
                <a:latin typeface="Arial"/>
              </a:defRPr>
            </a:pPr>
            <a:r>
              <a:t>INVERSIÓN DEL CURSO</a:t>
            </a:r>
          </a:p>
          <a:p>
            <a:pPr>
              <a:spcAft>
                <a:spcPts val="1200"/>
              </a:spcAft>
              <a:defRPr sz="4000" b="1">
                <a:solidFill>
                  <a:srgbClr val="BF1E2E"/>
                </a:solidFill>
                <a:latin typeface="Georgia"/>
              </a:defRPr>
            </a:pPr>
            <a:r>
              <a:t>30.000 Gs.</a:t>
            </a:r>
          </a:p>
          <a:p>
            <a:pPr>
              <a:defRPr sz="1400">
                <a:solidFill>
                  <a:srgbClr val="282828"/>
                </a:solidFill>
                <a:latin typeface="Arial"/>
              </a:defRPr>
            </a:pPr>
            <a:r>
              <a:t>• Inversión total por la materia.</a:t>
            </a:r>
            <a:br/>
            <a:r>
              <a:t>• Incluye acceso irrestricto a la app móvil, lecciones interactivas, actividades y autoevaluaciones.</a:t>
            </a:r>
            <a:br/>
            <a:br/>
            <a:r>
              <a:t>👉 Próximo paso: Prueba tu acceso hoy mismo con tu usuario y PIN (1111).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4988" y="509451"/>
            <a:ext cx="9601200" cy="40216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Introductoria</a:t>
            </a:r>
            <a:r>
              <a:rPr dirty="0"/>
              <a:t> de</a:t>
            </a:r>
            <a:br>
              <a:rPr dirty="0"/>
            </a:br>
            <a:r>
              <a:rPr dirty="0" err="1"/>
              <a:t>Apologética</a:t>
            </a:r>
            <a:r>
              <a:rPr dirty="0"/>
              <a:t> Cristiana</a:t>
            </a:r>
          </a:p>
          <a:p>
            <a:pPr>
              <a:defRPr sz="1600">
                <a:solidFill>
                  <a:srgbClr val="B4C8D7"/>
                </a:solidFill>
                <a:latin typeface="Arial"/>
              </a:defRPr>
            </a:pPr>
            <a:r>
              <a:rPr lang="es-ES" sz="3200" i="1" dirty="0"/>
              <a:t>En cambio, adoren a Cristo como el Señor de su vida. Si alguien les pregunta acerca de la esperanza que tienen como creyentes, estén siempre preparados para dar una explicación;</a:t>
            </a:r>
            <a:br>
              <a:rPr lang="es-ES" sz="3200" i="1" dirty="0"/>
            </a:br>
            <a:r>
              <a:rPr lang="es-ES" sz="3200" i="1" dirty="0"/>
              <a:t>1 Pedro 3:15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6692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ESCUELA DE VIDA  |  IGLESIA CELEBRACIÓN CRISTIANA</a:t>
            </a:r>
          </a:p>
        </p:txBody>
      </p:sp>
    </p:spTree>
    <p:extLst>
      <p:ext uri="{BB962C8B-B14F-4D97-AF65-F5344CB8AC3E}">
        <p14:creationId xmlns:p14="http://schemas.microsoft.com/office/powerpoint/2010/main" val="162416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C5962F50-E530-429C-B873-17EFC160299E}"/>
              </a:ext>
            </a:extLst>
          </p:cNvPr>
          <p:cNvSpPr/>
          <p:nvPr/>
        </p:nvSpPr>
        <p:spPr>
          <a:xfrm>
            <a:off x="731519" y="2869602"/>
            <a:ext cx="11119821" cy="38164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CD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endParaRPr lang="es-ES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La Esquizofrenia Cultural de Nuestra Época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1119821" cy="11187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CD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rPr lang="es-ES" sz="4800" dirty="0"/>
              <a:t>La Verdad en lo Terrenal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EB835C-23DC-4BE6-A625-DC74EE51097D}"/>
              </a:ext>
            </a:extLst>
          </p:cNvPr>
          <p:cNvSpPr txBox="1"/>
          <p:nvPr/>
        </p:nvSpPr>
        <p:spPr>
          <a:xfrm>
            <a:off x="923365" y="2895600"/>
            <a:ext cx="1092797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En la medicina, exigimos exactitud absoluta; un error de dosis puede</a:t>
            </a: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 fatal.</a:t>
            </a: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En nuestras finanzas y dinero, demandamos transparencia y números objetivos; no aceptamos 'verdades relativas'.</a:t>
            </a: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En estas áreas, la sociedad reconoce que la verdad objetiva existe y es vital.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La Esquizofrenia Cultural de Nuestra Época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79176"/>
            <a:ext cx="10944113" cy="1111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1E2E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BF1E2E"/>
                </a:solidFill>
                <a:latin typeface="Georgia"/>
              </a:defRPr>
            </a:pPr>
            <a:r>
              <a:rPr sz="4800" dirty="0"/>
              <a:t>La </a:t>
            </a:r>
            <a:r>
              <a:rPr sz="4800" dirty="0" err="1"/>
              <a:t>Paradoja</a:t>
            </a:r>
            <a:r>
              <a:rPr sz="4800" dirty="0"/>
              <a:t> </a:t>
            </a:r>
            <a:r>
              <a:rPr sz="4800" dirty="0" err="1"/>
              <a:t>en</a:t>
            </a:r>
            <a:r>
              <a:rPr sz="4800" dirty="0"/>
              <a:t> lo </a:t>
            </a:r>
            <a:r>
              <a:rPr sz="4800" dirty="0" err="1"/>
              <a:t>Espiritual</a:t>
            </a:r>
            <a:endParaRPr sz="480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64B0131-B2E9-47BE-BD2C-2F14912CF2D0}"/>
              </a:ext>
            </a:extLst>
          </p:cNvPr>
          <p:cNvSpPr/>
          <p:nvPr/>
        </p:nvSpPr>
        <p:spPr>
          <a:xfrm>
            <a:off x="731520" y="2843604"/>
            <a:ext cx="11119821" cy="38164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CD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endParaRPr lang="es-ES" sz="4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3A132A-120C-40F5-B2C1-28AF39F98ACB}"/>
              </a:ext>
            </a:extLst>
          </p:cNvPr>
          <p:cNvSpPr txBox="1"/>
          <p:nvPr/>
        </p:nvSpPr>
        <p:spPr>
          <a:xfrm>
            <a:off x="923366" y="2869602"/>
            <a:ext cx="109279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Al hablar de fe, moralidad o Dios, la cultura de repente dice: 'Eso es verdad para ti, pero no para mí'.</a:t>
            </a: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Relativizamos lo trascendente, cayendo en una profunda incongruencia.</a:t>
            </a: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Esta separación absurda entre la razón y la espiritualidad es nuestro punto de partida.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53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¿Qué es (y qué NO es) la Apologética?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2381134"/>
            <a:ext cx="10944113" cy="3954351"/>
          </a:xfrm>
          <a:prstGeom prst="roundRect">
            <a:avLst/>
          </a:prstGeom>
          <a:solidFill>
            <a:srgbClr val="EBF3F8"/>
          </a:solidFill>
          <a:ln>
            <a:solidFill>
              <a:srgbClr val="BED2E1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>
              <a:lnSpc>
                <a:spcPct val="120000"/>
              </a:lnSpc>
              <a:defRPr sz="1400">
                <a:solidFill>
                  <a:srgbClr val="212121"/>
                </a:solidFill>
                <a:latin typeface="Arial"/>
              </a:defRPr>
            </a:pPr>
            <a:r>
              <a:rPr sz="2400" b="1" dirty="0"/>
              <a:t>• </a:t>
            </a:r>
            <a:r>
              <a:rPr sz="2400" b="1" dirty="0" err="1"/>
              <a:t>Defensa</a:t>
            </a:r>
            <a:r>
              <a:rPr sz="2400" b="1" dirty="0"/>
              <a:t> </a:t>
            </a:r>
            <a:r>
              <a:rPr sz="2400" b="1" dirty="0" err="1"/>
              <a:t>razonada</a:t>
            </a:r>
            <a:r>
              <a:rPr sz="2400" b="1" dirty="0"/>
              <a:t> de la </a:t>
            </a:r>
            <a:r>
              <a:rPr sz="2400" b="1" dirty="0" err="1"/>
              <a:t>fe</a:t>
            </a:r>
            <a:r>
              <a:rPr sz="2400" b="1" dirty="0"/>
              <a:t>: </a:t>
            </a:r>
            <a:r>
              <a:rPr sz="2400" b="1" dirty="0" err="1"/>
              <a:t>Busca</a:t>
            </a:r>
            <a:r>
              <a:rPr sz="2400" b="1" dirty="0"/>
              <a:t> </a:t>
            </a:r>
            <a:r>
              <a:rPr sz="2400" b="1" dirty="0" err="1"/>
              <a:t>dar</a:t>
            </a:r>
            <a:r>
              <a:rPr sz="2400" b="1" dirty="0"/>
              <a:t> </a:t>
            </a:r>
            <a:r>
              <a:rPr sz="2400" b="1" dirty="0" err="1"/>
              <a:t>respuestas</a:t>
            </a:r>
            <a:r>
              <a:rPr sz="2400" b="1" dirty="0"/>
              <a:t> </a:t>
            </a:r>
            <a:r>
              <a:rPr sz="2400" b="1" dirty="0" err="1"/>
              <a:t>lógicas</a:t>
            </a:r>
            <a:r>
              <a:rPr sz="2400" b="1" dirty="0"/>
              <a:t>, </a:t>
            </a:r>
            <a:r>
              <a:rPr sz="2400" b="1" dirty="0" err="1"/>
              <a:t>históricas</a:t>
            </a:r>
            <a:r>
              <a:rPr sz="2400" b="1" dirty="0"/>
              <a:t> y </a:t>
            </a:r>
            <a:r>
              <a:rPr sz="2400" b="1" dirty="0" err="1"/>
              <a:t>filosóficas</a:t>
            </a:r>
            <a:r>
              <a:rPr sz="2400" b="1" dirty="0"/>
              <a:t> </a:t>
            </a:r>
            <a:r>
              <a:rPr sz="2400" b="1" dirty="0" err="1"/>
              <a:t>sólidas</a:t>
            </a:r>
            <a:r>
              <a:rPr sz="2400" b="1" dirty="0"/>
              <a:t>.</a:t>
            </a:r>
            <a:br>
              <a:rPr sz="2400" b="1" dirty="0"/>
            </a:br>
            <a:br>
              <a:rPr sz="2400" b="1" dirty="0"/>
            </a:br>
            <a:r>
              <a:rPr sz="2400" b="1" dirty="0"/>
              <a:t>• </a:t>
            </a:r>
            <a:r>
              <a:rPr sz="2400" b="1" dirty="0" err="1"/>
              <a:t>Preparación</a:t>
            </a:r>
            <a:r>
              <a:rPr sz="2400" b="1" dirty="0"/>
              <a:t> </a:t>
            </a:r>
            <a:r>
              <a:rPr sz="2400" b="1" dirty="0" err="1"/>
              <a:t>pura</a:t>
            </a:r>
            <a:r>
              <a:rPr sz="2400" b="1" dirty="0"/>
              <a:t>: </a:t>
            </a:r>
            <a:r>
              <a:rPr sz="2400" b="1" dirty="0" err="1"/>
              <a:t>Estar</a:t>
            </a:r>
            <a:r>
              <a:rPr sz="2400" b="1" dirty="0"/>
              <a:t> </a:t>
            </a:r>
            <a:r>
              <a:rPr sz="2400" b="1" dirty="0" err="1"/>
              <a:t>listos</a:t>
            </a:r>
            <a:r>
              <a:rPr sz="2400" b="1" dirty="0"/>
              <a:t> </a:t>
            </a:r>
            <a:r>
              <a:rPr sz="2400" b="1" dirty="0" err="1"/>
              <a:t>intelectual</a:t>
            </a:r>
            <a:r>
              <a:rPr sz="2400" b="1" dirty="0"/>
              <a:t> y </a:t>
            </a:r>
            <a:r>
              <a:rPr sz="2400" b="1" dirty="0" err="1"/>
              <a:t>espiritualmente</a:t>
            </a:r>
            <a:r>
              <a:rPr sz="2400" b="1" dirty="0"/>
              <a:t> para </a:t>
            </a:r>
            <a:r>
              <a:rPr sz="2400" b="1" dirty="0" err="1"/>
              <a:t>fundamentar</a:t>
            </a:r>
            <a:r>
              <a:rPr sz="2400" b="1" dirty="0"/>
              <a:t> con </a:t>
            </a:r>
            <a:r>
              <a:rPr sz="2400" b="1" dirty="0" err="1"/>
              <a:t>respeto</a:t>
            </a:r>
            <a:r>
              <a:rPr sz="2400" b="1" dirty="0"/>
              <a:t> </a:t>
            </a:r>
            <a:r>
              <a:rPr sz="2400" b="1" dirty="0" err="1"/>
              <a:t>nuestras</a:t>
            </a:r>
            <a:r>
              <a:rPr sz="2400" b="1" dirty="0"/>
              <a:t> </a:t>
            </a:r>
            <a:r>
              <a:rPr sz="2400" b="1" dirty="0" err="1"/>
              <a:t>convicciones</a:t>
            </a:r>
            <a:r>
              <a:rPr sz="2400" b="1" dirty="0"/>
              <a:t>.</a:t>
            </a:r>
            <a:br>
              <a:rPr sz="2400" b="1" dirty="0"/>
            </a:br>
            <a:br>
              <a:rPr sz="2400" b="1" dirty="0"/>
            </a:br>
            <a:r>
              <a:rPr sz="2400" b="1" dirty="0"/>
              <a:t>• Un </a:t>
            </a:r>
            <a:r>
              <a:rPr sz="2400" b="1" dirty="0" err="1"/>
              <a:t>puente</a:t>
            </a:r>
            <a:r>
              <a:rPr sz="2400" b="1" dirty="0"/>
              <a:t> de </a:t>
            </a:r>
            <a:r>
              <a:rPr sz="2400" b="1" dirty="0" err="1"/>
              <a:t>conversación</a:t>
            </a:r>
            <a:r>
              <a:rPr sz="2400" b="1" dirty="0"/>
              <a:t>: </a:t>
            </a:r>
            <a:r>
              <a:rPr sz="2400" b="1" dirty="0" err="1"/>
              <a:t>Facilita</a:t>
            </a:r>
            <a:r>
              <a:rPr sz="2400" b="1" dirty="0"/>
              <a:t> </a:t>
            </a:r>
            <a:r>
              <a:rPr sz="2400" b="1" dirty="0" err="1"/>
              <a:t>derribar</a:t>
            </a:r>
            <a:r>
              <a:rPr sz="2400" b="1" dirty="0"/>
              <a:t> barreras </a:t>
            </a:r>
            <a:r>
              <a:rPr sz="2400" b="1" dirty="0" err="1"/>
              <a:t>intelectuales</a:t>
            </a:r>
            <a:r>
              <a:rPr sz="2400" b="1" dirty="0"/>
              <a:t> </a:t>
            </a:r>
            <a:r>
              <a:rPr sz="2400" b="1" dirty="0" err="1"/>
              <a:t>en</a:t>
            </a:r>
            <a:r>
              <a:rPr sz="2400" b="1" dirty="0"/>
              <a:t> </a:t>
            </a:r>
            <a:r>
              <a:rPr sz="2400" b="1" dirty="0" err="1"/>
              <a:t>quienes</a:t>
            </a:r>
            <a:r>
              <a:rPr sz="2400" b="1" dirty="0"/>
              <a:t> </a:t>
            </a:r>
            <a:r>
              <a:rPr sz="2400" b="1" dirty="0" err="1"/>
              <a:t>dudan</a:t>
            </a:r>
            <a:r>
              <a:rPr sz="2400" b="1" dirty="0"/>
              <a:t>.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B281A09-C704-49E1-AF82-0252C942917F}"/>
              </a:ext>
            </a:extLst>
          </p:cNvPr>
          <p:cNvSpPr/>
          <p:nvPr/>
        </p:nvSpPr>
        <p:spPr>
          <a:xfrm>
            <a:off x="731520" y="1502776"/>
            <a:ext cx="10944113" cy="1111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1E2E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0B496B"/>
                </a:solidFill>
                <a:latin typeface="Georgia"/>
              </a:defRPr>
            </a:pPr>
            <a:r>
              <a:rPr lang="en-US" sz="4800" dirty="0"/>
              <a:t>LO QUE SÍ ES</a:t>
            </a:r>
          </a:p>
        </p:txBody>
      </p:sp>
    </p:spTree>
    <p:extLst>
      <p:ext uri="{BB962C8B-B14F-4D97-AF65-F5344CB8AC3E}">
        <p14:creationId xmlns:p14="http://schemas.microsoft.com/office/powerpoint/2010/main" val="245380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¿Qué es (y qué NO es) la Apologética?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2297155"/>
            <a:ext cx="10944113" cy="43462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BED2E1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>
              <a:lnSpc>
                <a:spcPct val="120000"/>
              </a:lnSpc>
              <a:defRPr sz="1400">
                <a:solidFill>
                  <a:srgbClr val="212121"/>
                </a:solidFill>
                <a:latin typeface="Arial"/>
              </a:defRPr>
            </a:pPr>
            <a:r>
              <a:rPr lang="es-ES" sz="2400" b="1" dirty="0"/>
              <a:t>• Pedir disculpas: Aunque la fonética en inglés (</a:t>
            </a:r>
            <a:r>
              <a:rPr lang="es-ES" sz="2400" b="1" dirty="0" err="1"/>
              <a:t>apologetics</a:t>
            </a:r>
            <a:r>
              <a:rPr lang="es-ES" sz="2400" b="1" dirty="0"/>
              <a:t>) se asemeje a '</a:t>
            </a:r>
            <a:r>
              <a:rPr lang="es-ES" sz="2400" b="1" dirty="0" err="1"/>
              <a:t>to</a:t>
            </a:r>
            <a:r>
              <a:rPr lang="es-ES" sz="2400" b="1" dirty="0"/>
              <a:t> </a:t>
            </a:r>
            <a:r>
              <a:rPr lang="es-ES" sz="2400" b="1" dirty="0" err="1"/>
              <a:t>apologize</a:t>
            </a:r>
            <a:r>
              <a:rPr lang="es-ES" sz="2400" b="1" dirty="0"/>
              <a:t>', no tiene nada que ver con avergonzarse de lo que creemos</a:t>
            </a:r>
            <a:r>
              <a:rPr sz="2400" b="1" dirty="0"/>
              <a:t>.</a:t>
            </a:r>
            <a:br>
              <a:rPr sz="2400" b="1" dirty="0"/>
            </a:br>
            <a:br>
              <a:rPr sz="2400" b="1" dirty="0"/>
            </a:br>
            <a:r>
              <a:rPr lang="es-ES" sz="2400" b="1" dirty="0"/>
              <a:t>• Arrogancia intelectual: Su fin no es ganar debates destructivos o alimentar el ego del cristiano.</a:t>
            </a:r>
            <a:br>
              <a:rPr sz="2400" b="1" dirty="0"/>
            </a:br>
            <a:br>
              <a:rPr sz="2400" b="1" dirty="0"/>
            </a:br>
            <a:r>
              <a:rPr lang="es-ES" sz="2400" b="1" dirty="0"/>
              <a:t>• Una fe sin corazón: No reemplaza la relación espiritual con Dios, la complementa con la mente.</a:t>
            </a:r>
            <a:endParaRPr sz="2400" b="1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B281A09-C704-49E1-AF82-0252C942917F}"/>
              </a:ext>
            </a:extLst>
          </p:cNvPr>
          <p:cNvSpPr/>
          <p:nvPr/>
        </p:nvSpPr>
        <p:spPr>
          <a:xfrm>
            <a:off x="731520" y="1502776"/>
            <a:ext cx="10944113" cy="1111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1E2E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BF1E2E"/>
                </a:solidFill>
                <a:latin typeface="Georgia"/>
              </a:defRPr>
            </a:pPr>
            <a:r>
              <a:rPr lang="en-US" sz="4800" dirty="0"/>
              <a:t>LO QUE NO ES</a:t>
            </a:r>
          </a:p>
        </p:txBody>
      </p:sp>
    </p:spTree>
    <p:extLst>
      <p:ext uri="{BB962C8B-B14F-4D97-AF65-F5344CB8AC3E}">
        <p14:creationId xmlns:p14="http://schemas.microsoft.com/office/powerpoint/2010/main" val="1837339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Tres Objetivos Clave para el Cristiano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645920"/>
            <a:ext cx="11193001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496B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20040" rIns="228600" rtlCol="0" anchor="ctr"/>
          <a:lstStyle/>
          <a:p>
            <a:pPr>
              <a:lnSpc>
                <a:spcPct val="120000"/>
              </a:lnSpc>
              <a:defRPr sz="1350">
                <a:solidFill>
                  <a:srgbClr val="212121"/>
                </a:solidFill>
                <a:latin typeface="Arial"/>
              </a:defRPr>
            </a:pPr>
            <a:r>
              <a:rPr sz="3200" b="1" dirty="0" err="1"/>
              <a:t>Aprenderemos</a:t>
            </a:r>
            <a:r>
              <a:rPr sz="3200" b="1" dirty="0"/>
              <a:t> a </a:t>
            </a:r>
            <a:r>
              <a:rPr sz="3200" b="1" dirty="0" err="1"/>
              <a:t>utilizar</a:t>
            </a:r>
            <a:r>
              <a:rPr sz="3200" b="1" dirty="0"/>
              <a:t> </a:t>
            </a:r>
            <a:r>
              <a:rPr sz="3200" b="1" dirty="0" err="1"/>
              <a:t>evidencias</a:t>
            </a:r>
            <a:r>
              <a:rPr sz="3200" b="1" dirty="0"/>
              <a:t> </a:t>
            </a:r>
            <a:r>
              <a:rPr sz="3200" b="1" dirty="0" err="1"/>
              <a:t>históricas</a:t>
            </a:r>
            <a:r>
              <a:rPr sz="3200" b="1" dirty="0"/>
              <a:t>, </a:t>
            </a:r>
            <a:r>
              <a:rPr sz="3200" b="1" dirty="0" err="1"/>
              <a:t>filosóficas</a:t>
            </a:r>
            <a:r>
              <a:rPr sz="3200" b="1" dirty="0"/>
              <a:t> y </a:t>
            </a:r>
            <a:r>
              <a:rPr sz="3200" b="1" dirty="0" err="1"/>
              <a:t>científicas</a:t>
            </a:r>
            <a:r>
              <a:rPr sz="3200" b="1" dirty="0"/>
              <a:t> para </a:t>
            </a:r>
            <a:r>
              <a:rPr sz="3200" b="1" dirty="0" err="1"/>
              <a:t>demostrar</a:t>
            </a:r>
            <a:r>
              <a:rPr sz="3200" b="1" dirty="0"/>
              <a:t> que </a:t>
            </a:r>
            <a:r>
              <a:rPr sz="3200" b="1" dirty="0" err="1"/>
              <a:t>el</a:t>
            </a:r>
            <a:r>
              <a:rPr sz="3200" b="1" dirty="0"/>
              <a:t> </a:t>
            </a:r>
            <a:r>
              <a:rPr sz="3200" b="1" dirty="0" err="1"/>
              <a:t>cristianismo</a:t>
            </a:r>
            <a:r>
              <a:rPr sz="3200" b="1" dirty="0"/>
              <a:t> es </a:t>
            </a:r>
            <a:r>
              <a:rPr sz="3200" b="1" dirty="0" err="1"/>
              <a:t>coherente</a:t>
            </a:r>
            <a:r>
              <a:rPr sz="3200" b="1" dirty="0"/>
              <a:t> con la </a:t>
            </a:r>
            <a:r>
              <a:rPr sz="3200" b="1" dirty="0" err="1"/>
              <a:t>realidad</a:t>
            </a:r>
            <a:r>
              <a:rPr sz="3200" b="1" dirty="0"/>
              <a:t> y </a:t>
            </a:r>
            <a:r>
              <a:rPr sz="3200" b="1" dirty="0" err="1"/>
              <a:t>enteramente</a:t>
            </a:r>
            <a:r>
              <a:rPr sz="3200" b="1" dirty="0"/>
              <a:t> </a:t>
            </a:r>
            <a:r>
              <a:rPr sz="3200" b="1" dirty="0" err="1"/>
              <a:t>verdadero</a:t>
            </a:r>
            <a:r>
              <a:rPr sz="3200" b="1"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 rot="10800000" flipV="1">
            <a:off x="731520" y="1156995"/>
            <a:ext cx="11193002" cy="559837"/>
          </a:xfrm>
          <a:prstGeom prst="roundRect">
            <a:avLst/>
          </a:prstGeom>
          <a:solidFill>
            <a:srgbClr val="0B4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Demostrar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Coherencia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2364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Tres Objetivos Clave para el Cristiano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645920"/>
            <a:ext cx="10810447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6B73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20040" rIns="228600" rtlCol="0" anchor="ctr"/>
          <a:lstStyle/>
          <a:p>
            <a:pPr>
              <a:lnSpc>
                <a:spcPct val="120000"/>
              </a:lnSpc>
              <a:defRPr sz="1350">
                <a:solidFill>
                  <a:srgbClr val="212121"/>
                </a:solidFill>
                <a:latin typeface="Arial"/>
              </a:defRPr>
            </a:pPr>
            <a:r>
              <a:rPr sz="3200" b="1" dirty="0"/>
              <a:t>No </a:t>
            </a:r>
            <a:r>
              <a:rPr sz="3200" b="1" dirty="0" err="1"/>
              <a:t>nos</a:t>
            </a:r>
            <a:r>
              <a:rPr sz="3200" b="1" dirty="0"/>
              <a:t> </a:t>
            </a:r>
            <a:r>
              <a:rPr sz="3200" b="1" dirty="0" err="1"/>
              <a:t>quedaremos</a:t>
            </a:r>
            <a:r>
              <a:rPr sz="3200" b="1" dirty="0"/>
              <a:t> </a:t>
            </a:r>
            <a:r>
              <a:rPr sz="3200" b="1" dirty="0" err="1"/>
              <a:t>en</a:t>
            </a:r>
            <a:r>
              <a:rPr sz="3200" b="1" dirty="0"/>
              <a:t> </a:t>
            </a:r>
            <a:r>
              <a:rPr sz="3200" b="1" dirty="0" err="1"/>
              <a:t>especulaciones</a:t>
            </a:r>
            <a:r>
              <a:rPr sz="3200" b="1" dirty="0"/>
              <a:t> </a:t>
            </a:r>
            <a:r>
              <a:rPr sz="3200" b="1" dirty="0" err="1"/>
              <a:t>teóricas</a:t>
            </a:r>
            <a:r>
              <a:rPr sz="3200" b="1" dirty="0"/>
              <a:t> </a:t>
            </a:r>
            <a:r>
              <a:rPr sz="3200" b="1" dirty="0" err="1"/>
              <a:t>abstractas</a:t>
            </a:r>
            <a:r>
              <a:rPr sz="3200" b="1" dirty="0"/>
              <a:t>; </a:t>
            </a:r>
            <a:r>
              <a:rPr sz="3200" b="1" dirty="0" err="1"/>
              <a:t>obtendremos</a:t>
            </a:r>
            <a:r>
              <a:rPr sz="3200" b="1" dirty="0"/>
              <a:t> </a:t>
            </a:r>
            <a:r>
              <a:rPr sz="3200" b="1" dirty="0" err="1"/>
              <a:t>herramientas</a:t>
            </a:r>
            <a:r>
              <a:rPr sz="3200" b="1" dirty="0"/>
              <a:t> </a:t>
            </a:r>
            <a:r>
              <a:rPr sz="3200" b="1" dirty="0" err="1"/>
              <a:t>lógicas</a:t>
            </a:r>
            <a:r>
              <a:rPr sz="3200" b="1" dirty="0"/>
              <a:t> </a:t>
            </a:r>
            <a:r>
              <a:rPr sz="3200" b="1" dirty="0" err="1"/>
              <a:t>sumamente</a:t>
            </a:r>
            <a:r>
              <a:rPr sz="3200" b="1" dirty="0"/>
              <a:t> </a:t>
            </a:r>
            <a:r>
              <a:rPr sz="3200" b="1" dirty="0" err="1"/>
              <a:t>útiles</a:t>
            </a:r>
            <a:r>
              <a:rPr sz="3200" b="1" dirty="0"/>
              <a:t> para </a:t>
            </a:r>
            <a:r>
              <a:rPr sz="3200" b="1" dirty="0" err="1"/>
              <a:t>el</a:t>
            </a:r>
            <a:r>
              <a:rPr sz="3200" b="1" dirty="0"/>
              <a:t> </a:t>
            </a:r>
            <a:r>
              <a:rPr sz="3200" b="1" dirty="0" err="1"/>
              <a:t>diálogo</a:t>
            </a:r>
            <a:r>
              <a:rPr sz="3200" b="1" dirty="0"/>
              <a:t> </a:t>
            </a:r>
            <a:r>
              <a:rPr sz="3200" b="1" dirty="0" err="1"/>
              <a:t>diario</a:t>
            </a:r>
            <a:r>
              <a:rPr sz="3200" b="1" dirty="0"/>
              <a:t> </a:t>
            </a:r>
            <a:r>
              <a:rPr sz="3200" b="1" dirty="0" err="1"/>
              <a:t>en</a:t>
            </a:r>
            <a:r>
              <a:rPr sz="3200" b="1" dirty="0"/>
              <a:t> </a:t>
            </a:r>
            <a:r>
              <a:rPr sz="3200" b="1" dirty="0" err="1"/>
              <a:t>el</a:t>
            </a:r>
            <a:r>
              <a:rPr sz="3200" b="1" dirty="0"/>
              <a:t> </a:t>
            </a:r>
            <a:r>
              <a:rPr sz="3200" b="1" dirty="0" err="1"/>
              <a:t>trabajo</a:t>
            </a:r>
            <a:r>
              <a:rPr sz="3200" b="1" dirty="0"/>
              <a:t>, colegio o </a:t>
            </a:r>
            <a:r>
              <a:rPr sz="3200" b="1" dirty="0" err="1"/>
              <a:t>familia</a:t>
            </a:r>
            <a:r>
              <a:rPr sz="3200" b="1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1116874"/>
            <a:ext cx="10810447" cy="509452"/>
          </a:xfrm>
          <a:prstGeom prst="roundRect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Herramientas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Prácticas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F1E2E"/>
                </a:solidFill>
                <a:latin typeface="Arial"/>
              </a:defRPr>
            </a:pPr>
            <a:r>
              <a:t>CLASE INTRODUCTORIA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B496B"/>
                </a:solidFill>
                <a:latin typeface="Georgia"/>
              </a:defRPr>
            </a:pPr>
            <a:r>
              <a:t>Tres Objetivos Clave para el Cristiano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812" y="1645920"/>
            <a:ext cx="1080447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1E2E"/>
            </a:solidFill>
          </a:ln>
          <a:effectLst>
            <a:outerShdw blurRad="20000" dist="10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20040" rIns="228600" rtlCol="0" anchor="ctr"/>
          <a:lstStyle/>
          <a:p>
            <a:pPr>
              <a:lnSpc>
                <a:spcPct val="120000"/>
              </a:lnSpc>
              <a:defRPr sz="1350">
                <a:solidFill>
                  <a:srgbClr val="212121"/>
                </a:solidFill>
                <a:latin typeface="Arial"/>
              </a:defRPr>
            </a:pPr>
            <a:r>
              <a:rPr sz="2800" b="1" dirty="0" err="1"/>
              <a:t>Aprenderemos</a:t>
            </a:r>
            <a:r>
              <a:rPr sz="2800" b="1" dirty="0"/>
              <a:t> </a:t>
            </a:r>
            <a:r>
              <a:rPr sz="2800" b="1" dirty="0" err="1"/>
              <a:t>tácticas</a:t>
            </a:r>
            <a:r>
              <a:rPr sz="2800" b="1" dirty="0"/>
              <a:t> clave, </a:t>
            </a:r>
            <a:r>
              <a:rPr sz="2800" b="1" dirty="0" err="1"/>
              <a:t>como</a:t>
            </a:r>
            <a:r>
              <a:rPr sz="2800" b="1" dirty="0"/>
              <a:t> la 'Técnica del </a:t>
            </a:r>
            <a:r>
              <a:rPr sz="2800" b="1" dirty="0" err="1"/>
              <a:t>Correcaminos</a:t>
            </a:r>
            <a:r>
              <a:rPr sz="2800" b="1" dirty="0"/>
              <a:t>', para </a:t>
            </a:r>
            <a:r>
              <a:rPr sz="2800" b="1" dirty="0" err="1"/>
              <a:t>identificar</a:t>
            </a:r>
            <a:r>
              <a:rPr sz="2800" b="1" dirty="0"/>
              <a:t> y </a:t>
            </a:r>
            <a:r>
              <a:rPr sz="2800" b="1" dirty="0" err="1"/>
              <a:t>refutar</a:t>
            </a:r>
            <a:r>
              <a:rPr sz="2800" b="1" dirty="0"/>
              <a:t> con </a:t>
            </a:r>
            <a:r>
              <a:rPr sz="2800" b="1" dirty="0" err="1"/>
              <a:t>elegancia</a:t>
            </a:r>
            <a:r>
              <a:rPr sz="2800" b="1" dirty="0"/>
              <a:t> y </a:t>
            </a:r>
            <a:r>
              <a:rPr sz="2800" b="1" dirty="0" err="1"/>
              <a:t>lógica</a:t>
            </a:r>
            <a:r>
              <a:rPr sz="2800" b="1" dirty="0"/>
              <a:t> las </a:t>
            </a:r>
            <a:r>
              <a:rPr sz="2800" b="1" dirty="0" err="1"/>
              <a:t>declaraciones</a:t>
            </a:r>
            <a:r>
              <a:rPr sz="2800" b="1" dirty="0"/>
              <a:t> </a:t>
            </a:r>
            <a:r>
              <a:rPr sz="2800" b="1" dirty="0" err="1"/>
              <a:t>modernas</a:t>
            </a:r>
            <a:r>
              <a:rPr sz="2800" b="1" dirty="0"/>
              <a:t> que se </a:t>
            </a:r>
            <a:r>
              <a:rPr sz="2800" b="1" dirty="0" err="1"/>
              <a:t>contradicen</a:t>
            </a:r>
            <a:r>
              <a:rPr sz="2800" b="1" dirty="0"/>
              <a:t> a </a:t>
            </a:r>
            <a:r>
              <a:rPr sz="2800" b="1" dirty="0" err="1"/>
              <a:t>sí</a:t>
            </a:r>
            <a:r>
              <a:rPr sz="2800" b="1" dirty="0"/>
              <a:t> </a:t>
            </a:r>
            <a:r>
              <a:rPr sz="2800" b="1" dirty="0" err="1"/>
              <a:t>mismas</a:t>
            </a:r>
            <a:r>
              <a:rPr sz="2800" b="1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812" y="1240039"/>
            <a:ext cx="10804476" cy="537443"/>
          </a:xfrm>
          <a:prstGeom prst="round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Refutar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Inteligencia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249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5441" y="727787"/>
            <a:ext cx="10255898" cy="445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BF1E2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EL DESAFÍO DE ESTA MATERIA</a:t>
            </a:r>
          </a:p>
          <a:p>
            <a:pPr>
              <a:lnSpc>
                <a:spcPct val="125000"/>
              </a:lnSpc>
              <a:spcAft>
                <a:spcPts val="240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3000" dirty="0"/>
              <a:t>“La </a:t>
            </a:r>
            <a:r>
              <a:rPr sz="3000" dirty="0" err="1"/>
              <a:t>apologética</a:t>
            </a:r>
            <a:r>
              <a:rPr sz="3000" dirty="0"/>
              <a:t> no </a:t>
            </a:r>
            <a:r>
              <a:rPr sz="3000" dirty="0" err="1"/>
              <a:t>busca</a:t>
            </a:r>
            <a:r>
              <a:rPr sz="3000" dirty="0"/>
              <a:t> que </a:t>
            </a:r>
            <a:r>
              <a:rPr sz="3000" dirty="0" err="1"/>
              <a:t>ganemos</a:t>
            </a:r>
            <a:r>
              <a:rPr sz="3000" dirty="0"/>
              <a:t> </a:t>
            </a:r>
            <a:r>
              <a:rPr sz="3000" dirty="0" err="1"/>
              <a:t>discusiones</a:t>
            </a:r>
            <a:r>
              <a:rPr sz="3000" dirty="0"/>
              <a:t> para </a:t>
            </a:r>
            <a:r>
              <a:rPr sz="3000" dirty="0" err="1"/>
              <a:t>alimentar</a:t>
            </a:r>
            <a:r>
              <a:rPr sz="3000" dirty="0"/>
              <a:t> </a:t>
            </a:r>
            <a:r>
              <a:rPr sz="3000" dirty="0" err="1"/>
              <a:t>el</a:t>
            </a:r>
            <a:r>
              <a:rPr sz="3000" dirty="0"/>
              <a:t> </a:t>
            </a:r>
            <a:r>
              <a:rPr sz="3000" dirty="0" err="1"/>
              <a:t>orgullo</a:t>
            </a:r>
            <a:r>
              <a:rPr sz="3000" dirty="0"/>
              <a:t> </a:t>
            </a:r>
            <a:r>
              <a:rPr sz="3000" dirty="0" err="1"/>
              <a:t>intelectual</a:t>
            </a:r>
            <a:r>
              <a:rPr sz="3000" dirty="0"/>
              <a:t>.</a:t>
            </a:r>
            <a:br>
              <a:rPr sz="3000" dirty="0"/>
            </a:br>
            <a:r>
              <a:rPr sz="3000" dirty="0" err="1"/>
              <a:t>Busca</a:t>
            </a:r>
            <a:r>
              <a:rPr sz="3000" dirty="0"/>
              <a:t> que </a:t>
            </a:r>
            <a:r>
              <a:rPr sz="3000" dirty="0" err="1"/>
              <a:t>despejemos</a:t>
            </a:r>
            <a:r>
              <a:rPr sz="3000" dirty="0"/>
              <a:t> los </a:t>
            </a:r>
            <a:r>
              <a:rPr sz="3000" dirty="0" err="1"/>
              <a:t>obstáculos</a:t>
            </a:r>
            <a:r>
              <a:rPr sz="3000" dirty="0"/>
              <a:t> </a:t>
            </a:r>
            <a:r>
              <a:rPr sz="3000" dirty="0" err="1"/>
              <a:t>mentales</a:t>
            </a:r>
            <a:r>
              <a:rPr sz="3000" dirty="0"/>
              <a:t> y </a:t>
            </a:r>
            <a:r>
              <a:rPr sz="3000" dirty="0" err="1"/>
              <a:t>lógicos</a:t>
            </a:r>
            <a:r>
              <a:rPr sz="3000" dirty="0"/>
              <a:t> para que la </a:t>
            </a:r>
            <a:r>
              <a:rPr sz="3000" dirty="0" err="1"/>
              <a:t>verdad</a:t>
            </a:r>
            <a:r>
              <a:rPr sz="3000" dirty="0"/>
              <a:t> </a:t>
            </a:r>
            <a:r>
              <a:rPr sz="3000" dirty="0" err="1"/>
              <a:t>pueda</a:t>
            </a:r>
            <a:r>
              <a:rPr sz="3000" dirty="0"/>
              <a:t> </a:t>
            </a:r>
            <a:r>
              <a:rPr sz="3000" dirty="0" err="1"/>
              <a:t>brillar</a:t>
            </a:r>
            <a:r>
              <a:rPr sz="3000" dirty="0"/>
              <a:t> por </a:t>
            </a:r>
            <a:r>
              <a:rPr sz="3000" dirty="0" err="1"/>
              <a:t>sí</a:t>
            </a:r>
            <a:r>
              <a:rPr sz="3000" dirty="0"/>
              <a:t> sola, </a:t>
            </a:r>
            <a:r>
              <a:rPr sz="3000" dirty="0" err="1"/>
              <a:t>basándose</a:t>
            </a:r>
            <a:r>
              <a:rPr sz="3000" dirty="0"/>
              <a:t> </a:t>
            </a:r>
            <a:r>
              <a:rPr sz="3000" dirty="0" err="1"/>
              <a:t>en</a:t>
            </a:r>
            <a:r>
              <a:rPr sz="3000" dirty="0"/>
              <a:t> la Palabra de Dios y </a:t>
            </a:r>
            <a:r>
              <a:rPr sz="3000" dirty="0" err="1"/>
              <a:t>su</a:t>
            </a:r>
            <a:r>
              <a:rPr sz="3000" dirty="0"/>
              <a:t> profunda </a:t>
            </a:r>
            <a:r>
              <a:rPr sz="3000" dirty="0" err="1"/>
              <a:t>influencia</a:t>
            </a:r>
            <a:r>
              <a:rPr sz="3000" dirty="0"/>
              <a:t> </a:t>
            </a:r>
            <a:r>
              <a:rPr sz="3000" dirty="0" err="1"/>
              <a:t>en</a:t>
            </a:r>
            <a:r>
              <a:rPr sz="3000" dirty="0"/>
              <a:t> la </a:t>
            </a:r>
            <a:r>
              <a:rPr sz="3000" dirty="0" err="1"/>
              <a:t>historia</a:t>
            </a:r>
            <a:r>
              <a:rPr sz="3000" dirty="0"/>
              <a:t> </a:t>
            </a:r>
            <a:r>
              <a:rPr sz="3000" dirty="0" err="1"/>
              <a:t>humana</a:t>
            </a:r>
            <a:r>
              <a:rPr sz="3000" dirty="0"/>
              <a:t>.”</a:t>
            </a:r>
          </a:p>
          <a:p>
            <a:pPr>
              <a:defRPr sz="1600">
                <a:solidFill>
                  <a:srgbClr val="B4C8D7"/>
                </a:solidFill>
                <a:latin typeface="Arial"/>
              </a:defRPr>
            </a:pPr>
            <a:r>
              <a:rPr dirty="0" err="1"/>
              <a:t>Prepárense</a:t>
            </a:r>
            <a:r>
              <a:rPr dirty="0"/>
              <a:t> para </a:t>
            </a:r>
            <a:r>
              <a:rPr dirty="0" err="1"/>
              <a:t>llevar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fe</a:t>
            </a:r>
            <a:r>
              <a:rPr dirty="0"/>
              <a:t> al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profundidad</a:t>
            </a:r>
            <a:r>
              <a:rPr dirty="0"/>
              <a:t> y </a:t>
            </a:r>
            <a:r>
              <a:rPr dirty="0" err="1"/>
              <a:t>razón</a:t>
            </a:r>
            <a:r>
              <a:rPr dirty="0"/>
              <a:t>. ¡</a:t>
            </a:r>
            <a:r>
              <a:rPr dirty="0" err="1"/>
              <a:t>Comencemos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camino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1607</Words>
  <Application>Microsoft Office PowerPoint</Application>
  <PresentationFormat>Panorámica</PresentationFormat>
  <Paragraphs>123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Georgia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carlos bazan</cp:lastModifiedBy>
  <cp:revision>2</cp:revision>
  <dcterms:created xsi:type="dcterms:W3CDTF">2013-01-27T09:14:16Z</dcterms:created>
  <dcterms:modified xsi:type="dcterms:W3CDTF">2026-08-17T19:10:13Z</dcterms:modified>
  <cp:category/>
</cp:coreProperties>
</file>