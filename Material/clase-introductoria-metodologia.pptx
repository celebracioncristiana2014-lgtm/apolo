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orador:</a:t>
            </a:r>
          </a:p>
          <a:p>
            <a:r>
              <a:t>- Bienvenidos a la segunda parte de nuestra introducción.</a:t>
            </a:r>
          </a:p>
          <a:p>
            <a:r>
              <a:t>- Ahora que entendemos qué es la apologética y por qué es vital, vamos a ver la logística y metodología práctica del curso.</a:t>
            </a:r>
          </a:p>
          <a:p>
            <a:r>
              <a:t>- Explicar que el curso fue diseñado con herramientas modernas pensadas en su comodidad.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orador:</a:t>
            </a:r>
          </a:p>
          <a:p>
            <a:r>
              <a:t>- Explicar el salto de calidad que damos al dejar de usar PDFs sueltos en WhatsApp.</a:t>
            </a:r>
          </a:p>
          <a:p>
            <a:r>
              <a:t>- La app centraliza y simplifica todo.</a:t>
            </a:r>
          </a:p>
          <a:p>
            <a:r>
              <a:t>- Resaltar la importancia de avisar a tiempo si alguien necesita el material impreso.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orador:</a:t>
            </a:r>
          </a:p>
          <a:p>
            <a:r>
              <a:t>- Explicar que las actividades ayudan a fijar el conocimiento.</a:t>
            </a:r>
          </a:p>
          <a:p>
            <a:r>
              <a:t>- Tranquilizar a los alumnos: el formato es amigable (V/F, opción múltiple).</a:t>
            </a:r>
          </a:p>
          <a:p>
            <a:r>
              <a:t>- No hay que enviar fotos de las tareas; todo queda registrado en su perfil automáticamente.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orador:</a:t>
            </a:r>
          </a:p>
          <a:p>
            <a:r>
              <a:t>- Mostrar cómo se forma el usuario. Hacer un ejercicio rápido con algunos alumnos.</a:t>
            </a:r>
          </a:p>
          <a:p>
            <a:r>
              <a:t>- Ejemplos rápidos: Juan Perez -&gt; juanp; María Gómez -&gt; mariag.</a:t>
            </a:r>
          </a:p>
          <a:p>
            <a:r>
              <a:t>- El PIN universal para esta primera etapa es 1111 para evitar complicaciones.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del orador:</a:t>
            </a:r>
          </a:p>
          <a:p>
            <a:r>
              <a:t>- Reiterar el día y hora: Lunes 20:00 hs de manera online.</a:t>
            </a:r>
          </a:p>
          <a:p>
            <a:r>
              <a:t>- La inversión mensual es sumamente accesible (30.000 Gs) y cubre toda la infraestructura tecnológica.</a:t>
            </a:r>
          </a:p>
          <a:p>
            <a:r>
              <a:t>- Dejar la tarea para esta semana: que todos ingresen a la app por primera vez y verifiquen su perfil.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9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B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BF1E2E"/>
                </a:solidFill>
                <a:latin typeface="Arial"/>
              </a:defRPr>
            </a:pPr>
            <a:r>
              <a:t>APOLOGÉTICA CRISTIANA  •  CLASE INTRODUCTORIA</a:t>
            </a:r>
          </a:p>
          <a:p>
            <a:pPr>
              <a:spcAft>
                <a:spcPts val="100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t>¿Cómo funcionará nuestra materia?</a:t>
            </a:r>
          </a:p>
          <a:p>
            <a:pPr>
              <a:defRPr sz="1800">
                <a:solidFill>
                  <a:srgbClr val="C8D7E6"/>
                </a:solidFill>
                <a:latin typeface="Arial"/>
              </a:defRPr>
            </a:pPr>
            <a:r>
              <a:t>La Metodología del Curso: una experiencia moderna, dinámica y accesible para todos.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BF1E2E"/>
                </a:solidFill>
                <a:latin typeface="Arial"/>
              </a:defRPr>
            </a:pPr>
            <a:r>
              <a:t>APOLOGÉTICA CRISTIANA — METODOLOGÍA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B496B"/>
                </a:solidFill>
                <a:latin typeface="Georgia"/>
              </a:defRPr>
            </a:pPr>
            <a:r>
              <a:t>Nuestra Plataforma de Estudio: La App Oficial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5400"/>
          </a:xfrm>
          <a:prstGeom prst="rect">
            <a:avLst/>
          </a:prstGeom>
          <a:solidFill>
            <a:srgbClr val="B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spcAft>
                <a:spcPts val="1400"/>
              </a:spcAft>
              <a:defRPr sz="2200" b="1">
                <a:solidFill>
                  <a:srgbClr val="0B496B"/>
                </a:solidFill>
                <a:latin typeface="Georgia"/>
              </a:defRPr>
            </a:pPr>
            <a:r>
              <a:t>Toda la materia en un solo lugar</a:t>
            </a:r>
          </a:p>
          <a:p>
            <a:pPr>
              <a:spcAft>
                <a:spcPts val="1200"/>
              </a:spcAft>
              <a:defRPr sz="1500">
                <a:solidFill>
                  <a:srgbClr val="282828"/>
                </a:solidFill>
                <a:latin typeface="Arial"/>
              </a:defRPr>
            </a:pPr>
            <a:r>
              <a:t>Olvídate de los archivos sueltos enviados por chat que se pierden con facilidad.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  <a:latin typeface="Arial"/>
              </a:defRPr>
            </a:pPr>
            <a:r>
              <a:t>• Acceso Centralizado: Dentro de la app tendrás todos los módulos y las lecciones semanales de forma ordenadora.</a:t>
            </a:r>
            <a:br/>
            <a:r>
              <a:t>• Comodidad Total: Lee cómodamente en cualquier momento desde tu teléfono móvil Android o tu computadora.</a:t>
            </a:r>
            <a:br/>
            <a:r>
              <a:t>• Progreso Guardado: El sistema recordará en qué parte te quedaste.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37360"/>
            <a:ext cx="51206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spcAft>
                <a:spcPts val="1400"/>
              </a:spcAft>
              <a:defRPr sz="2200" b="1">
                <a:solidFill>
                  <a:srgbClr val="0B496B"/>
                </a:solidFill>
                <a:latin typeface="Georgia"/>
              </a:defRPr>
            </a:pPr>
            <a:r>
              <a:t>¿Prefieres leer en papel?</a:t>
            </a:r>
          </a:p>
          <a:p>
            <a:pPr>
              <a:spcAft>
                <a:spcPts val="1200"/>
              </a:spcAft>
              <a:defRPr sz="1500">
                <a:solidFill>
                  <a:srgbClr val="282828"/>
                </a:solidFill>
                <a:latin typeface="Arial"/>
              </a:defRPr>
            </a:pPr>
            <a:r>
              <a:t>Nuestra modalidad principal de estudio es 100% digital para cuidar el medio ambiente y facilitar la entrega.</a:t>
            </a:r>
          </a:p>
          <a:p>
            <a:pPr>
              <a:defRPr sz="1400">
                <a:solidFill>
                  <a:srgbClr val="282828"/>
                </a:solidFill>
                <a:latin typeface="Arial"/>
              </a:defRPr>
            </a:pPr>
            <a:r>
              <a:t>• Impresión bajo demanda: Por motivos de organización y logística, las copias impresas solo se entregarán a quienes lo soliciten expresamente.</a:t>
            </a:r>
            <a:br/>
            <a:br/>
            <a:r>
              <a:t>• Requisito: Si eres de las personas que comprende mejor leyendo en formato físico, avísanos con anticipación para preparar tus materiales.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BF1E2E"/>
                </a:solidFill>
                <a:latin typeface="Arial"/>
              </a:defRPr>
            </a:pPr>
            <a:r>
              <a:t>APOLOGÉTICA CRISTIANA — METODOLOGÍA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B496B"/>
                </a:solidFill>
                <a:latin typeface="Georgia"/>
              </a:defRPr>
            </a:pPr>
            <a:r>
              <a:t>Evaluaciones y Actividades Integradas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5400"/>
          </a:xfrm>
          <a:prstGeom prst="rect">
            <a:avLst/>
          </a:prstGeom>
          <a:solidFill>
            <a:srgbClr val="B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400"/>
              </a:spcAft>
              <a:defRPr sz="1800" b="1">
                <a:solidFill>
                  <a:srgbClr val="0B496B"/>
                </a:solidFill>
                <a:latin typeface="Georgia"/>
              </a:defRPr>
            </a:pPr>
            <a:r>
              <a:t>Actividades Interactivas</a:t>
            </a:r>
          </a:p>
          <a:p>
            <a:pPr>
              <a:spcAft>
                <a:spcPts val="1400"/>
              </a:spcAft>
              <a:defRPr sz="1100" b="1">
                <a:solidFill>
                  <a:srgbClr val="BF1E2E"/>
                </a:solidFill>
                <a:latin typeface="Arial"/>
              </a:defRPr>
            </a:pPr>
            <a:r>
              <a:t>PONER A PRUEBA LO QUE LEEMOS</a:t>
            </a:r>
          </a:p>
          <a:p>
            <a:pPr>
              <a:defRPr sz="1400">
                <a:solidFill>
                  <a:srgbClr val="282828"/>
                </a:solidFill>
                <a:latin typeface="Arial"/>
              </a:defRPr>
            </a:pPr>
            <a:r>
              <a:t>El verdadero aprendizaje requiere práctica. Al finalizar cada lección teórica dentro de la app, encontrarás de inmediato tu sección de ejercicios prácticos.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918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400"/>
              </a:spcAft>
              <a:defRPr sz="1800" b="1">
                <a:solidFill>
                  <a:srgbClr val="0B496B"/>
                </a:solidFill>
                <a:latin typeface="Georgia"/>
              </a:defRPr>
            </a:pPr>
            <a:r>
              <a:t>Formatos Amigables</a:t>
            </a:r>
          </a:p>
          <a:p>
            <a:pPr>
              <a:spcAft>
                <a:spcPts val="1400"/>
              </a:spcAft>
              <a:defRPr sz="1100" b="1">
                <a:solidFill>
                  <a:srgbClr val="BF1E2E"/>
                </a:solidFill>
                <a:latin typeface="Arial"/>
              </a:defRPr>
            </a:pPr>
            <a:r>
              <a:t>DIFERENTES TIPOS DE PREGUNTAS</a:t>
            </a:r>
          </a:p>
          <a:p>
            <a:pPr>
              <a:defRPr sz="1400">
                <a:solidFill>
                  <a:srgbClr val="282828"/>
                </a:solidFill>
                <a:latin typeface="Arial"/>
              </a:defRPr>
            </a:pPr>
            <a:r>
              <a:t>Para que no sea aburrido, resolverás cuestionarios de Verdadero o Falso, Selección Múltiple e interesantes preguntas de reflexión para tu vida diaria.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2918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400"/>
              </a:spcAft>
              <a:defRPr sz="1800" b="1">
                <a:solidFill>
                  <a:srgbClr val="0B496B"/>
                </a:solidFill>
                <a:latin typeface="Georgia"/>
              </a:defRPr>
            </a:pPr>
            <a:r>
              <a:t>Progreso Automatizado</a:t>
            </a:r>
          </a:p>
          <a:p>
            <a:pPr>
              <a:spcAft>
                <a:spcPts val="1400"/>
              </a:spcAft>
              <a:defRPr sz="1100" b="1">
                <a:solidFill>
                  <a:srgbClr val="BF1E2E"/>
                </a:solidFill>
                <a:latin typeface="Arial"/>
              </a:defRPr>
            </a:pPr>
            <a:r>
              <a:t>SIN HOJAS SUELTAS NI FOTOS</a:t>
            </a:r>
          </a:p>
          <a:p>
            <a:pPr>
              <a:defRPr sz="1400">
                <a:solidFill>
                  <a:srgbClr val="282828"/>
                </a:solidFill>
                <a:latin typeface="Arial"/>
              </a:defRPr>
            </a:pPr>
            <a:r>
              <a:t>Al finalizar el test, el sistema procesa y guarda automáticamente tus respuestas y notas en tu perfil personal. Podrás hacer seguimiento de tu propio avance.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BF1E2E"/>
                </a:solidFill>
                <a:latin typeface="Arial"/>
              </a:defRPr>
            </a:pPr>
            <a:r>
              <a:t>APOLOGÉTICA CRISTIANA — METODOLOGÍA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B496B"/>
                </a:solidFill>
                <a:latin typeface="Georgia"/>
              </a:defRPr>
            </a:pPr>
            <a:r>
              <a:t>¿Cómo acceder a la plataforma?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5400"/>
          </a:xfrm>
          <a:prstGeom prst="rect">
            <a:avLst/>
          </a:prstGeom>
          <a:solidFill>
            <a:srgbClr val="B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spcAft>
                <a:spcPts val="1200"/>
              </a:spcAft>
              <a:defRPr sz="2200" b="1">
                <a:solidFill>
                  <a:srgbClr val="0B496B"/>
                </a:solidFill>
                <a:latin typeface="Georgia"/>
              </a:defRPr>
            </a:pPr>
            <a:r>
              <a:t>Ingreso Rápido y Sencillo</a:t>
            </a:r>
          </a:p>
          <a:p>
            <a:pPr>
              <a:spcAft>
                <a:spcPts val="1400"/>
              </a:spcAft>
              <a:defRPr sz="1500">
                <a:solidFill>
                  <a:srgbClr val="282828"/>
                </a:solidFill>
                <a:latin typeface="Arial"/>
              </a:defRPr>
            </a:pPr>
            <a:r>
              <a:t>Olvídate de contraseñas complejas o de tener que registrar correos electrónicos largos e incómodos. Hemos simplificado el acceso para todos.</a:t>
            </a:r>
          </a:p>
          <a:p>
            <a:pPr>
              <a:defRPr sz="1400">
                <a:solidFill>
                  <a:srgbClr val="282828"/>
                </a:solidFill>
                <a:latin typeface="Arial"/>
              </a:defRPr>
            </a:pPr>
            <a:r>
              <a:t>• Regla de Usuario Único: Primer nombre + primera letra del apellido paterno en minúsculas y sin espacios.</a:t>
            </a:r>
            <a:br/>
            <a:br/>
            <a:r>
              <a:t>• Contraseña Inicial: Para la primera fase de acceso general, todos usaremos el mismo PIN universal de 4 dígitos.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37360"/>
            <a:ext cx="5120640" cy="2011680"/>
          </a:xfrm>
          <a:prstGeom prst="roundRect">
            <a:avLst/>
          </a:prstGeom>
          <a:solidFill>
            <a:srgbClr val="0B496B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400"/>
              </a:spcAft>
              <a:defRPr sz="1100" b="1">
                <a:solidFill>
                  <a:srgbClr val="BF1E2E"/>
                </a:solidFill>
                <a:latin typeface="Arial"/>
              </a:defRPr>
            </a:pPr>
            <a:r>
              <a:t>USUARIO</a:t>
            </a:r>
          </a:p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Primer Nombre + Letra Apellido</a:t>
            </a:r>
          </a:p>
          <a:p>
            <a:pPr>
              <a:defRPr sz="1400">
                <a:solidFill>
                  <a:srgbClr val="C8DCF0"/>
                </a:solidFill>
                <a:latin typeface="Arial"/>
              </a:defRPr>
            </a:pPr>
            <a:r>
              <a:t>Ejemplo: Karlos Bazan  ➔  karlosb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402336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1E2E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400"/>
              </a:spcAft>
              <a:defRPr sz="1100" b="1">
                <a:solidFill>
                  <a:srgbClr val="646E78"/>
                </a:solidFill>
                <a:latin typeface="Arial"/>
              </a:defRPr>
            </a:pPr>
            <a:r>
              <a:t>CONTRASEÑA (PIN) UNIVERSAL</a:t>
            </a:r>
          </a:p>
          <a:p>
            <a:pPr>
              <a:spcAft>
                <a:spcPts val="400"/>
              </a:spcAft>
              <a:defRPr sz="3600" b="1">
                <a:solidFill>
                  <a:srgbClr val="BF1E2E"/>
                </a:solidFill>
                <a:latin typeface="Georgia"/>
              </a:defRPr>
            </a:pPr>
            <a:r>
              <a:t>1111</a:t>
            </a:r>
          </a:p>
          <a:p>
            <a:pPr>
              <a:defRPr sz="1300">
                <a:solidFill>
                  <a:srgbClr val="282828"/>
                </a:solidFill>
                <a:latin typeface="Arial"/>
              </a:defRPr>
            </a:pPr>
            <a:r>
              <a:t>Usa este PIN universal para ingresar por primera vez.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9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B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Georgia"/>
              </a:defRPr>
            </a:pPr>
            <a:r>
              <a:t>Horarios, Costo e Inicio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25A82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spcAft>
                <a:spcPts val="1000"/>
              </a:spcAft>
              <a:defRPr sz="1200" b="1">
                <a:solidFill>
                  <a:srgbClr val="DCEBFA"/>
                </a:solidFill>
                <a:latin typeface="Arial"/>
              </a:defRPr>
            </a:pPr>
            <a:r>
              <a:t>CLASES EN VIVO</a:t>
            </a:r>
          </a:p>
          <a:p>
            <a:pPr>
              <a:spcAft>
                <a:spcPts val="1200"/>
              </a:spcAft>
              <a:defRPr sz="3200" b="1">
                <a:solidFill>
                  <a:srgbClr val="FFFFFF"/>
                </a:solidFill>
                <a:latin typeface="Georgia"/>
              </a:defRPr>
            </a:pPr>
            <a:r>
              <a:t>Lunes, 20:00 hs.</a:t>
            </a:r>
          </a:p>
          <a:p>
            <a:pPr>
              <a:defRPr sz="1500">
                <a:solidFill>
                  <a:srgbClr val="DCEBFA"/>
                </a:solidFill>
                <a:latin typeface="Arial"/>
              </a:defRPr>
            </a:pPr>
            <a:r>
              <a:t>• Formato 100% online.</a:t>
            </a:r>
            <a:br/>
            <a:r>
              <a:t>• Sesiones dinámicas diseñadas para no sobrecargar tu tiempo.</a:t>
            </a:r>
            <a:br/>
            <a:r>
              <a:t>• Espacio abierto para resolver dudas y consolidar lo leído en la app.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F1E2E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spcAft>
                <a:spcPts val="1000"/>
              </a:spcAft>
              <a:defRPr sz="1200" b="1">
                <a:solidFill>
                  <a:srgbClr val="646E78"/>
                </a:solidFill>
                <a:latin typeface="Arial"/>
              </a:defRPr>
            </a:pPr>
            <a:r>
              <a:t>INVERSIÓN DEL CURSO</a:t>
            </a:r>
          </a:p>
          <a:p>
            <a:pPr>
              <a:spcAft>
                <a:spcPts val="1200"/>
              </a:spcAft>
              <a:defRPr sz="4000" b="1">
                <a:solidFill>
                  <a:srgbClr val="BF1E2E"/>
                </a:solidFill>
                <a:latin typeface="Georgia"/>
              </a:defRPr>
            </a:pPr>
            <a:r>
              <a:t>30.000 Gs.</a:t>
            </a:r>
          </a:p>
          <a:p>
            <a:pPr>
              <a:defRPr sz="1400">
                <a:solidFill>
                  <a:srgbClr val="282828"/>
                </a:solidFill>
                <a:latin typeface="Arial"/>
              </a:defRPr>
            </a:pPr>
            <a:r>
              <a:t>• Inversión total por la materia.</a:t>
            </a:r>
            <a:br/>
            <a:r>
              <a:t>• Incluye acceso irrestricto a la app móvil, lecciones interactivas, actividades y autoevaluaciones.</a:t>
            </a:r>
            <a:br/>
            <a:br/>
            <a:r>
              <a:t>👉 Próximo paso: Prueba tu acceso hoy mismo con tu usuario y PIN (1111).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